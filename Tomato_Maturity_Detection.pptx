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55-4DD2-9197-9B4910698D82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55-4DD2-9197-9B4910698D8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55-4DD2-9197-9B4910698D8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55-4DD2-9197-9B4910698D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Mature</c:v>
                </c:pt>
                <c:pt idx="1">
                  <c:v>Immature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55-4DD2-9197-9B4910698D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7F9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Precision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%</c:v>
                </c:pt>
              </c:strCache>
            </c:strRef>
          </c:tx>
          <c:spPr>
            <a:solidFill>
              <a:srgbClr val="1B7F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0A-4CD0-B7B4-25B30DBC865D}"/>
              </c:ext>
            </c:extLst>
          </c:dPt>
          <c:dPt>
            <c:idx val="1"/>
            <c:invertIfNegative val="0"/>
            <c:bubble3D val="0"/>
            <c:spPr>
              <a:solidFill>
                <a:srgbClr val="5BAD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0A-4CD0-B7B4-25B30DBC865D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0A-4CD0-B7B4-25B30DBC865D}"/>
              </c:ext>
            </c:extLst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0A-4CD0-B7B4-25B30DBC86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YOLOv5s</c:v>
                </c:pt>
                <c:pt idx="1">
                  <c:v>YOLOv5m</c:v>
                </c:pt>
                <c:pt idx="2">
                  <c:v>SSD</c:v>
                </c:pt>
                <c:pt idx="3">
                  <c:v>Faster-RCNN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98.3</c:v>
                </c:pt>
                <c:pt idx="1">
                  <c:v>97.7</c:v>
                </c:pt>
                <c:pt idx="2">
                  <c:v>82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0A-4CD0-B7B4-25B30DBC86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Inference Speed (FPS)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</c:v>
                </c:pt>
              </c:strCache>
            </c:strRef>
          </c:tx>
          <c:spPr>
            <a:solidFill>
              <a:srgbClr val="1B7F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96-4C39-99E0-8BA2B14DE84F}"/>
              </c:ext>
            </c:extLst>
          </c:dPt>
          <c:dPt>
            <c:idx val="1"/>
            <c:invertIfNegative val="0"/>
            <c:bubble3D val="0"/>
            <c:spPr>
              <a:solidFill>
                <a:srgbClr val="5BAD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96-4C39-99E0-8BA2B14DE84F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96-4C39-99E0-8BA2B14DE84F}"/>
              </c:ext>
            </c:extLst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96-4C39-99E0-8BA2B14DE8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YOLOv5s</c:v>
                </c:pt>
                <c:pt idx="1">
                  <c:v>YOLOv5m</c:v>
                </c:pt>
                <c:pt idx="2">
                  <c:v>SSD</c:v>
                </c:pt>
                <c:pt idx="3">
                  <c:v>Faster-RCNN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66.94</c:v>
                </c:pt>
                <c:pt idx="1">
                  <c:v>30.77</c:v>
                </c:pt>
                <c:pt idx="2">
                  <c:v>45.79</c:v>
                </c:pt>
                <c:pt idx="3">
                  <c:v>17.97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96-4C39-99E0-8BA2B14DE8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653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7880" y="0"/>
            <a:ext cx="3200400" cy="3200400"/>
          </a:xfrm>
          <a:prstGeom prst="ellipse">
            <a:avLst/>
          </a:prstGeom>
          <a:solidFill>
            <a:srgbClr val="1B7F3E">
              <a:alpha val="25000"/>
            </a:srgbClr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1828800" cy="1828800"/>
          </a:xfrm>
          <a:prstGeom prst="ellipse">
            <a:avLst/>
          </a:prstGeom>
          <a:solidFill>
            <a:srgbClr val="25A85A">
              <a:alpha val="40000"/>
            </a:srgbClr>
          </a:solidFill>
          <a:ln w="12700">
            <a:solidFill>
              <a:srgbClr val="25A8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" cy="2194560"/>
          </a:xfrm>
          <a:prstGeom prst="rect">
            <a:avLst/>
          </a:prstGeom>
          <a:solidFill>
            <a:srgbClr val="25A85A"/>
          </a:solidFill>
          <a:ln w="12700">
            <a:solidFill>
              <a:srgbClr val="25A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6858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Based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Maturity Detection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of Ma et al. (EITCE 2024) using a Tomato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B7F3E">
              <a:alpha val="60000"/>
            </a:srgbClr>
          </a:solidFill>
          <a:ln w="12700">
            <a:solidFill>
              <a:srgbClr val="25A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43891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B7F3E">
              <a:alpha val="60000"/>
            </a:srgbClr>
          </a:solidFill>
          <a:ln w="12700">
            <a:solidFill>
              <a:srgbClr val="25A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43891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B7F3E">
              <a:alpha val="60000"/>
            </a:srgbClr>
          </a:solidFill>
          <a:ln w="12700">
            <a:solidFill>
              <a:srgbClr val="25A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43891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B7F3E">
              <a:alpha val="60000"/>
            </a:srgbClr>
          </a:solidFill>
          <a:ln w="12700">
            <a:solidFill>
              <a:srgbClr val="25A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EITCE 2024  ·  Ma, Peng &amp; Ruan  ·  Hainan Vocational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64008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pepper/tomato harvesting relies entirely on manual labour — slow, costly, and prone to error.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2606040" cy="64008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88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Ripening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ripen over months in batches. Without automation, entire harvests are abandoned due to labour shortages.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06040" cy="64008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88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maturity detection enables smart picking robots to identify ripe vs unripe fruit in real time.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 et al., EITCE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475488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04288" y="105156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05156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Tomato Maturity Detection &amp; Quality Grading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828800" cy="475488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04288" y="160020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60020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Sher-e-Bangla Agricultural University, Bangladesh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828800" cy="475488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48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04288" y="21488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214884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 ·  Immature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1828800" cy="475488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97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04288" y="269748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269748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Galaxy, Redmi Note-9, Redmi Y3 smartphones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828800" cy="475488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04288" y="324612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32461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 ·  10% val  ·  10% test  (stratified)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1828800" cy="475488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94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04288" y="379476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95728" y="379476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Full-image bounding boxes (auto-generated)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1051560"/>
            <a:ext cx="1463040" cy="100584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2,986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49808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F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2194560"/>
            <a:ext cx="14630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2194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49808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457200" y="4297680"/>
          <a:ext cx="8229600" cy="45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3474720" cy="429768"/>
          </a:xfrm>
          <a:prstGeom prst="rect">
            <a:avLst/>
          </a:prstGeom>
          <a:solidFill>
            <a:srgbClr val="E8F5EC"/>
          </a:solidFill>
          <a:ln w="19050">
            <a:solidFill>
              <a:srgbClr val="1B7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29968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 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523744"/>
            <a:ext cx="3474720" cy="4297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3474720" cy="4297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1752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511296"/>
            <a:ext cx="3474720" cy="4297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11296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Faster-RCNN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0574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(YOLOv5s) retrained for binary classification: mature vs immature tomatoes.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7408" y="2606040"/>
            <a:ext cx="420624" cy="0"/>
          </a:xfrm>
          <a:prstGeom prst="line">
            <a:avLst/>
          </a:prstGeom>
          <a:noFill/>
          <a:ln w="31750">
            <a:solidFill>
              <a:srgbClr val="25A8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5A85A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43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GIoU Loss (box)  ·  BCE (confidence)  ·  Cross-entropy (classification)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9536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mAP@0.5 %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 Size (MB)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FPS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F3E"/>
                          </a:solidFill>
                        </a:rPr>
                        <a:t>YOLOv5s 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98.3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97.3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98.3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14.33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66.94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YOLOv5m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97.7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97.9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97.8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42.97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30.77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SSD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82.0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14.0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51.0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244.7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45.79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Faster-RCNN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38.0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82.0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58.0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109.0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17.97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20040" y="3703320"/>
            <a:ext cx="8503920" cy="132588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70332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  —  Best overall model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5F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(98.3%) · Smallest size (14.33 MB) · Fastest inference (66.94 FPS)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Visual Comparison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754880" y="91440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Green bars = YOLOv5s (best model)  ·  Paper dataset: pepper (Hainan, China)  ·  Hardware: A6000 GPU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Google Colab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94360" cy="169164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61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Download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 → download &amp; unzip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/ Immature folders auto-detected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94360" cy="169164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40680" y="1161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Preparation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full-image bounding boxes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 stratified split → tomato.yaml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594360" cy="169164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3081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 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474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 · img 640 · batch 16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yolov5s.pt weights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E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71800"/>
            <a:ext cx="594360" cy="169164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7180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0680" y="3081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474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PR/ROC curves · FPS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8F5EC"/>
          </a:solidFill>
          <a:ln w="12700">
            <a:solidFill>
              <a:srgbClr val="C5DE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7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3 · PyTorch · YOLOv5 · Ultralytics · scikit-learn · Matplotlib · Seaborn · Google Colab (T4 GPU)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11480" cy="50292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8755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 outperformed YOLOv5m, SSD, and Faster-RCNN across all metrics — confirming the original paper's findings on a tomato dataset.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411480" cy="50292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maturity classification (mature vs immature) achieved high accuracy, suitable for deployment in smart harvesting systems.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411480" cy="502920"/>
          </a:xfrm>
          <a:prstGeom prst="rect">
            <a:avLst/>
          </a:prstGeom>
          <a:solidFill>
            <a:srgbClr val="1B7F3E"/>
          </a:solidFill>
          <a:ln w="12700">
            <a:solidFill>
              <a:srgbClr val="1B7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34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pipeline: confusion matrix, PR/ROC curves, FPS benchmark, and model comparison table — all reproducible in Google Colab.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4114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49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73075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add real bounding box annotations · try YOLOv8/YOLOv11 · deploy on edge hardware with ONNX export.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Peng &amp; Ruan (2024) · EITCE 2024 · DOI: 10.1145/3711129.3711182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539</Words>
  <Application>Microsoft Office PowerPoint</Application>
  <PresentationFormat>On-screen Show (16:9)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Based Tomato Maturity Detection</dc:title>
  <dc:subject>PptxGenJS Presentation</dc:subject>
  <dc:creator>PptxGenJS</dc:creator>
  <cp:lastModifiedBy>konoha korosuke</cp:lastModifiedBy>
  <cp:revision>2</cp:revision>
  <dcterms:created xsi:type="dcterms:W3CDTF">2026-04-19T14:38:48Z</dcterms:created>
  <dcterms:modified xsi:type="dcterms:W3CDTF">2026-04-20T06:30:04Z</dcterms:modified>
</cp:coreProperties>
</file>